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Golos Text"/>
      <p:regular r:id="rId29"/>
      <p:bold r:id="rId30"/>
    </p:embeddedFont>
    <p:embeddedFont>
      <p:font typeface="Golos Text SemiBold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1">
          <p15:clr>
            <a:srgbClr val="000000"/>
          </p15:clr>
        </p15:guide>
        <p15:guide id="2" pos="2874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1" orient="horz"/>
        <p:guide pos="28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GolosTex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GolosTextSemiBold-regular.fntdata"/><Relationship Id="rId30" Type="http://schemas.openxmlformats.org/officeDocument/2006/relationships/font" Target="fonts/GolosText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GolosTextSemi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73" name="Google Shape;73;p1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7"/>
          <p:cNvSpPr/>
          <p:nvPr>
            <p:ph idx="2" type="pic"/>
          </p:nvPr>
        </p:nvSpPr>
        <p:spPr>
          <a:xfrm>
            <a:off x="457200" y="943208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79" name="Google Shape;79;p17"/>
          <p:cNvSpPr/>
          <p:nvPr>
            <p:ph idx="3" type="pic"/>
          </p:nvPr>
        </p:nvSpPr>
        <p:spPr>
          <a:xfrm>
            <a:off x="457200" y="2935720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3" type="body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idx="1" type="body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2" type="body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3" type="body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4" type="body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0" name="Google Shape;90;p19"/>
          <p:cNvSpPr txBox="1"/>
          <p:nvPr>
            <p:ph idx="5" type="body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SzPts val="14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6" type="body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SzPts val="14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3" name="Google Shape;93;p19"/>
          <p:cNvSpPr/>
          <p:nvPr>
            <p:ph idx="7" type="pic"/>
          </p:nvPr>
        </p:nvSpPr>
        <p:spPr>
          <a:xfrm>
            <a:off x="469081" y="944463"/>
            <a:ext cx="2577001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94" name="Google Shape;94;p19"/>
          <p:cNvSpPr/>
          <p:nvPr>
            <p:ph idx="8" type="pic"/>
          </p:nvPr>
        </p:nvSpPr>
        <p:spPr>
          <a:xfrm>
            <a:off x="3221666" y="944462"/>
            <a:ext cx="2577001" cy="1883023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95" name="Google Shape;95;p19"/>
          <p:cNvSpPr/>
          <p:nvPr>
            <p:ph idx="9" type="pic"/>
          </p:nvPr>
        </p:nvSpPr>
        <p:spPr>
          <a:xfrm>
            <a:off x="5980690" y="944463"/>
            <a:ext cx="2577001" cy="1883023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20"/>
          <p:cNvSpPr/>
          <p:nvPr>
            <p:ph idx="2" type="pic"/>
          </p:nvPr>
        </p:nvSpPr>
        <p:spPr>
          <a:xfrm>
            <a:off x="457200" y="949329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00" name="Google Shape;100;p20"/>
          <p:cNvSpPr/>
          <p:nvPr>
            <p:ph idx="3" type="pic"/>
          </p:nvPr>
        </p:nvSpPr>
        <p:spPr>
          <a:xfrm>
            <a:off x="3095171" y="949328"/>
            <a:ext cx="2532744" cy="1883023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01" name="Google Shape;101;p20"/>
          <p:cNvSpPr/>
          <p:nvPr>
            <p:ph idx="4" type="pic"/>
          </p:nvPr>
        </p:nvSpPr>
        <p:spPr>
          <a:xfrm>
            <a:off x="3095171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02" name="Google Shape;102;p20"/>
          <p:cNvSpPr/>
          <p:nvPr>
            <p:ph idx="5" type="pic"/>
          </p:nvPr>
        </p:nvSpPr>
        <p:spPr>
          <a:xfrm>
            <a:off x="457199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21"/>
          <p:cNvSpPr/>
          <p:nvPr>
            <p:ph idx="2" type="pic"/>
          </p:nvPr>
        </p:nvSpPr>
        <p:spPr>
          <a:xfrm>
            <a:off x="3095171" y="963397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07" name="Google Shape;107;p21"/>
          <p:cNvSpPr/>
          <p:nvPr>
            <p:ph idx="3" type="pic"/>
          </p:nvPr>
        </p:nvSpPr>
        <p:spPr>
          <a:xfrm>
            <a:off x="5733141" y="966928"/>
            <a:ext cx="2532744" cy="1883023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108" name="Google Shape;108;p21"/>
          <p:cNvSpPr/>
          <p:nvPr>
            <p:ph idx="4" type="pic"/>
          </p:nvPr>
        </p:nvSpPr>
        <p:spPr>
          <a:xfrm>
            <a:off x="5733141" y="2954042"/>
            <a:ext cx="2532744" cy="1883023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109" name="Google Shape;109;p21"/>
          <p:cNvSpPr/>
          <p:nvPr>
            <p:ph idx="5" type="pic"/>
          </p:nvPr>
        </p:nvSpPr>
        <p:spPr>
          <a:xfrm>
            <a:off x="3095171" y="2960314"/>
            <a:ext cx="2532744" cy="1883023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110" name="Google Shape;110;p21"/>
          <p:cNvSpPr/>
          <p:nvPr>
            <p:ph idx="6" type="pic"/>
          </p:nvPr>
        </p:nvSpPr>
        <p:spPr>
          <a:xfrm>
            <a:off x="457200" y="2960314"/>
            <a:ext cx="2532744" cy="1883023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2" type="body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idx="3" type="body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2"/>
          <p:cNvSpPr/>
          <p:nvPr>
            <p:ph idx="4" type="pic"/>
          </p:nvPr>
        </p:nvSpPr>
        <p:spPr>
          <a:xfrm>
            <a:off x="454050" y="952607"/>
            <a:ext cx="2589213" cy="1304294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117" name="Google Shape;117;p22"/>
          <p:cNvSpPr/>
          <p:nvPr>
            <p:ph idx="5" type="pic"/>
          </p:nvPr>
        </p:nvSpPr>
        <p:spPr>
          <a:xfrm>
            <a:off x="3275818" y="952607"/>
            <a:ext cx="2589213" cy="1304294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118" name="Google Shape;118;p22"/>
          <p:cNvSpPr/>
          <p:nvPr>
            <p:ph idx="6" type="pic"/>
          </p:nvPr>
        </p:nvSpPr>
        <p:spPr>
          <a:xfrm>
            <a:off x="6089789" y="952607"/>
            <a:ext cx="2589213" cy="1304294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119" name="Google Shape;119;p22"/>
          <p:cNvSpPr txBox="1"/>
          <p:nvPr>
            <p:ph idx="7" type="body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2"/>
          <p:cNvSpPr txBox="1"/>
          <p:nvPr>
            <p:ph idx="8" type="body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2"/>
          <p:cNvSpPr txBox="1"/>
          <p:nvPr>
            <p:ph idx="9" type="body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2"/>
          <p:cNvSpPr/>
          <p:nvPr>
            <p:ph idx="13" type="pic"/>
          </p:nvPr>
        </p:nvSpPr>
        <p:spPr>
          <a:xfrm>
            <a:off x="457201" y="2866358"/>
            <a:ext cx="2589213" cy="1304294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14" type="pic"/>
          </p:nvPr>
        </p:nvSpPr>
        <p:spPr>
          <a:xfrm>
            <a:off x="3278969" y="2866358"/>
            <a:ext cx="2589213" cy="1304294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15" type="pic"/>
          </p:nvPr>
        </p:nvSpPr>
        <p:spPr>
          <a:xfrm>
            <a:off x="6092940" y="2866358"/>
            <a:ext cx="2589213" cy="1304294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306388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122363"/>
            <a:ext cx="8229600" cy="2898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/>
        </p:nvSpPr>
        <p:spPr>
          <a:xfrm>
            <a:off x="-865188" y="4133850"/>
            <a:ext cx="1841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-865188" y="4133850"/>
            <a:ext cx="1841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youtube.com/watch?v=eezLl4qAmk4" TargetMode="External"/><Relationship Id="rId10" Type="http://schemas.openxmlformats.org/officeDocument/2006/relationships/hyperlink" Target="https://www.youtube.com/watch?v=eezLl4qAmk4" TargetMode="External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youtube.com/watch?v=eezLl4qAmk4" TargetMode="External"/><Relationship Id="rId4" Type="http://schemas.openxmlformats.org/officeDocument/2006/relationships/hyperlink" Target="https://www.youtube.com/watch?v=eezLl4qAmk4" TargetMode="External"/><Relationship Id="rId9" Type="http://schemas.openxmlformats.org/officeDocument/2006/relationships/hyperlink" Target="https://www.youtube.com/watch?v=eezLl4qAmk4" TargetMode="External"/><Relationship Id="rId5" Type="http://schemas.openxmlformats.org/officeDocument/2006/relationships/hyperlink" Target="https://www.youtube.com/watch?v=eezLl4qAmk4" TargetMode="External"/><Relationship Id="rId6" Type="http://schemas.openxmlformats.org/officeDocument/2006/relationships/hyperlink" Target="https://www.youtube.com/watch?v=eezLl4qAmk4" TargetMode="External"/><Relationship Id="rId7" Type="http://schemas.openxmlformats.org/officeDocument/2006/relationships/hyperlink" Target="https://www.youtube.com/watch?v=eezLl4qAmk4" TargetMode="External"/><Relationship Id="rId8" Type="http://schemas.openxmlformats.org/officeDocument/2006/relationships/hyperlink" Target="https://www.youtube.com/watch?v=eezLl4qAmk4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evelopers.google.com/style" TargetMode="External"/><Relationship Id="rId4" Type="http://schemas.openxmlformats.org/officeDocument/2006/relationships/hyperlink" Target="https://docs.ozon.ru/styleguide/" TargetMode="External"/><Relationship Id="rId5" Type="http://schemas.openxmlformats.org/officeDocument/2006/relationships/hyperlink" Target="https://habr.com/ru/articles/591761/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623888" y="1919288"/>
            <a:ext cx="7170737" cy="2725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30" name="Google Shape;130;p23"/>
          <p:cNvSpPr txBox="1"/>
          <p:nvPr>
            <p:ph type="title"/>
          </p:nvPr>
        </p:nvSpPr>
        <p:spPr>
          <a:xfrm>
            <a:off x="623888" y="2427288"/>
            <a:ext cx="6824662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/>
              <a:t>Стайлгайд</a:t>
            </a:r>
            <a:br>
              <a:rPr b="0" lang="ru-RU"/>
            </a:br>
            <a:r>
              <a:rPr b="0" lang="ru-RU"/>
              <a:t>(руководство по стилю)</a:t>
            </a:r>
            <a:endParaRPr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623888" y="1233488"/>
            <a:ext cx="7170737" cy="3411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lang="ru-RU"/>
              <a:t> это набор стандартов и рекомендаций, который обеспечивает единообразие и качество во всех аспектах работы команды, будь то визуальный дизайн, код или техническая документация.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В рамках разработки документации это </a:t>
            </a:r>
            <a:r>
              <a:rPr lang="ru-RU"/>
              <a:t>инструмент, который устанавливает стиль и тон изложения, оформление текста и структуру, использование терминологии и других особенностей. </a:t>
            </a:r>
            <a:r>
              <a:rPr lang="ru-RU"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36" name="Google Shape;136;p24"/>
          <p:cNvSpPr txBox="1"/>
          <p:nvPr>
            <p:ph type="title"/>
          </p:nvPr>
        </p:nvSpPr>
        <p:spPr>
          <a:xfrm>
            <a:off x="457200" y="306388"/>
            <a:ext cx="6824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/>
              <a:t>Стайлгайд в IT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olos Text"/>
              <a:buNone/>
            </a:pPr>
            <a:r>
              <a:rPr lang="ru-RU" sz="4000"/>
              <a:t>Зачем нужны стайлгайды</a:t>
            </a:r>
            <a:endParaRPr sz="4000"/>
          </a:p>
        </p:txBody>
      </p:sp>
      <p:sp>
        <p:nvSpPr>
          <p:cNvPr id="142" name="Google Shape;142;p2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3863" y="1795463"/>
            <a:ext cx="1071562" cy="1071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ru-RU" sz="2400">
                <a:latin typeface="Times New Roman"/>
                <a:ea typeface="Times New Roman"/>
                <a:cs typeface="Times New Roman"/>
                <a:sym typeface="Times New Roman"/>
              </a:rPr>
              <a:t>единообразие,</a:t>
            </a:r>
            <a:endParaRPr/>
          </a:p>
          <a:p>
            <a:pPr indent="-285750" lvl="0" marL="2857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ru-RU" sz="2400">
                <a:latin typeface="Times New Roman"/>
                <a:ea typeface="Times New Roman"/>
                <a:cs typeface="Times New Roman"/>
                <a:sym typeface="Times New Roman"/>
              </a:rPr>
              <a:t>стандартизация и устранение разночтений,</a:t>
            </a:r>
            <a:endParaRPr/>
          </a:p>
          <a:p>
            <a:pPr indent="-285750" lvl="0" marL="2857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ru-RU" sz="2400">
                <a:latin typeface="Times New Roman"/>
                <a:ea typeface="Times New Roman"/>
                <a:cs typeface="Times New Roman"/>
                <a:sym typeface="Times New Roman"/>
              </a:rPr>
              <a:t>разрабатывать документацию быстрее,</a:t>
            </a:r>
            <a:endParaRPr/>
          </a:p>
          <a:p>
            <a:pPr indent="-285750" lvl="0" marL="2857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ru-RU" sz="2400">
                <a:latin typeface="Times New Roman"/>
                <a:ea typeface="Times New Roman"/>
                <a:cs typeface="Times New Roman"/>
                <a:sym typeface="Times New Roman"/>
              </a:rPr>
              <a:t>улучшение онбординга,</a:t>
            </a:r>
            <a:endParaRPr/>
          </a:p>
          <a:p>
            <a:pPr indent="-285750" lvl="0" marL="2857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ru-RU" sz="2400">
                <a:latin typeface="Times New Roman"/>
                <a:ea typeface="Times New Roman"/>
                <a:cs typeface="Times New Roman"/>
                <a:sym typeface="Times New Roman"/>
              </a:rPr>
              <a:t>сокращение ошибок,</a:t>
            </a:r>
            <a:endParaRPr/>
          </a:p>
          <a:p>
            <a:pPr indent="-285750" lvl="0" marL="2857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ru-RU" sz="2400">
                <a:latin typeface="Times New Roman"/>
                <a:ea typeface="Times New Roman"/>
                <a:cs typeface="Times New Roman"/>
                <a:sym typeface="Times New Roman"/>
              </a:rPr>
              <a:t>улучшение читабельности и поддержки кода,</a:t>
            </a:r>
            <a:endParaRPr/>
          </a:p>
          <a:p>
            <a:pPr indent="-285750" lvl="0" marL="2857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ru-RU" sz="2400">
                <a:latin typeface="Times New Roman"/>
                <a:ea typeface="Times New Roman"/>
                <a:cs typeface="Times New Roman"/>
                <a:sym typeface="Times New Roman"/>
              </a:rPr>
              <a:t>упрощения поиска информации в документах.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 u="sng">
              <a:solidFill>
                <a:schemeClr val="hlink"/>
              </a:solidFill>
              <a:hlinkClick r:id="rId3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 u="sng">
              <a:solidFill>
                <a:schemeClr val="hlink"/>
              </a:solidFill>
              <a:hlinkClick r:id="rId4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 u="sng">
              <a:solidFill>
                <a:schemeClr val="hlink"/>
              </a:solidFill>
              <a:hlinkClick r:id="rId5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 u="sng">
              <a:solidFill>
                <a:schemeClr val="hlink"/>
              </a:solidFill>
              <a:hlinkClick r:id="rId6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 u="sng">
              <a:solidFill>
                <a:schemeClr val="hlink"/>
              </a:solidFill>
              <a:hlinkClick r:id="rId7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 u="sng">
              <a:solidFill>
                <a:schemeClr val="hlink"/>
              </a:solidFill>
              <a:hlinkClick r:id="rId8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 u="sng">
              <a:solidFill>
                <a:schemeClr val="hlink"/>
              </a:solidFill>
              <a:hlinkClick r:id="rId9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 u="sng">
              <a:solidFill>
                <a:schemeClr val="hlink"/>
              </a:solidFill>
              <a:hlinkClick r:id="rId10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lang="ru-RU" u="sng">
                <a:solidFill>
                  <a:schemeClr val="hlink"/>
                </a:solidFill>
                <a:hlinkClick r:id="rId11"/>
              </a:rPr>
              <a:t>Стайлгайд. Как и зачем? — Владимир Гусаров, X5 Tech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lang="ru-RU"/>
              <a:t>(https://www.youtube.com/watch?v=eezLl4qAmk4)</a:t>
            </a:r>
            <a:endParaRPr/>
          </a:p>
        </p:txBody>
      </p:sp>
      <p:sp>
        <p:nvSpPr>
          <p:cNvPr id="155" name="Google Shape;155;p2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Конкретный пример</a:t>
            </a:r>
            <a:endParaRPr/>
          </a:p>
        </p:txBody>
      </p:sp>
      <p:pic>
        <p:nvPicPr>
          <p:cNvPr id="156" name="Google Shape;156;p2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52186" y="1233715"/>
            <a:ext cx="4659160" cy="2559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olos Text"/>
              <a:buNone/>
            </a:pPr>
            <a:r>
              <a:rPr lang="ru-RU" sz="4000"/>
              <a:t>Всегда ли  нужен стайлгайд</a:t>
            </a:r>
            <a:endParaRPr sz="4000"/>
          </a:p>
        </p:txBody>
      </p:sp>
      <p:sp>
        <p:nvSpPr>
          <p:cNvPr id="162" name="Google Shape;162;p2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6679" y="3029863"/>
            <a:ext cx="1071562" cy="1071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olos Text"/>
              <a:buNone/>
            </a:pPr>
            <a:r>
              <a:rPr lang="ru-RU" sz="3600"/>
              <a:t>Чем стайлгайды отличаются </a:t>
            </a:r>
            <a:endParaRPr/>
          </a:p>
          <a:p>
            <a:pPr indent="0" lvl="0" marL="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olos Text"/>
              <a:buNone/>
            </a:pPr>
            <a:r>
              <a:rPr lang="ru-RU" sz="3600"/>
              <a:t>от брендбука</a:t>
            </a:r>
            <a:endParaRPr sz="3600"/>
          </a:p>
        </p:txBody>
      </p:sp>
      <p:sp>
        <p:nvSpPr>
          <p:cNvPr id="169" name="Google Shape;169;p2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6549" y="3035540"/>
            <a:ext cx="1071562" cy="1071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lang="ru-RU"/>
              <a:t>описывает ценности, миссию и идеологию бренда. Призван вдохновить сотрудников, мотивировать их соответствовать направляющей концепции вашей организации. 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/>
          </a:p>
        </p:txBody>
      </p:sp>
      <p:sp>
        <p:nvSpPr>
          <p:cNvPr id="176" name="Google Shape;176;p3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Брендбук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623888" y="1233488"/>
            <a:ext cx="7170737" cy="3411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"/>
              <a:buNone/>
            </a:pPr>
            <a:r>
              <a:rPr lang="ru-RU" sz="2000"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"/>
              <a:buNone/>
            </a:pPr>
            <a:r>
              <a:t/>
            </a:r>
            <a:endParaRPr sz="20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"/>
              <a:buNone/>
            </a:pPr>
            <a:r>
              <a:t/>
            </a:r>
            <a:endParaRPr sz="20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"/>
              <a:buNone/>
            </a:pPr>
            <a:r>
              <a:t/>
            </a:r>
            <a:endParaRPr sz="20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"/>
              <a:buNone/>
            </a:pPr>
            <a:r>
              <a:t/>
            </a:r>
            <a:endParaRPr sz="20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"/>
              <a:buNone/>
            </a:pPr>
            <a:r>
              <a:t/>
            </a:r>
            <a:endParaRPr sz="2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82" name="Google Shape;182;p31"/>
          <p:cNvSpPr txBox="1"/>
          <p:nvPr>
            <p:ph type="title"/>
          </p:nvPr>
        </p:nvSpPr>
        <p:spPr>
          <a:xfrm>
            <a:off x="457200" y="306388"/>
            <a:ext cx="6824663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 </a:t>
            </a:r>
            <a:endParaRPr/>
          </a:p>
        </p:txBody>
      </p:sp>
      <p:sp>
        <p:nvSpPr>
          <p:cNvPr id="183" name="Google Shape;183;p31"/>
          <p:cNvSpPr/>
          <p:nvPr/>
        </p:nvSpPr>
        <p:spPr>
          <a:xfrm>
            <a:off x="1533525" y="1323975"/>
            <a:ext cx="556577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Виды стайлгайдов в IT</a:t>
            </a:r>
            <a:endParaRPr b="0" i="0" sz="28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184" name="Google Shape;184;p31"/>
          <p:cNvCxnSpPr/>
          <p:nvPr/>
        </p:nvCxnSpPr>
        <p:spPr>
          <a:xfrm flipH="1">
            <a:off x="1816274" y="1847195"/>
            <a:ext cx="1340286" cy="1259543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85" name="Google Shape;185;p31"/>
          <p:cNvCxnSpPr/>
          <p:nvPr/>
        </p:nvCxnSpPr>
        <p:spPr>
          <a:xfrm>
            <a:off x="5336088" y="1847195"/>
            <a:ext cx="1696537" cy="120556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86" name="Google Shape;186;p31"/>
          <p:cNvSpPr/>
          <p:nvPr/>
        </p:nvSpPr>
        <p:spPr>
          <a:xfrm>
            <a:off x="5624186" y="3106738"/>
            <a:ext cx="2624008" cy="1390106"/>
          </a:xfrm>
          <a:prstGeom prst="rect">
            <a:avLst/>
          </a:prstGeom>
          <a:gradFill>
            <a:gsLst>
              <a:gs pos="0">
                <a:srgbClr val="9E5ECE">
                  <a:alpha val="72941"/>
                </a:srgbClr>
              </a:gs>
              <a:gs pos="90000">
                <a:srgbClr val="9E5ECE">
                  <a:alpha val="72941"/>
                </a:srgbClr>
              </a:gs>
              <a:gs pos="100000">
                <a:srgbClr val="FF6E7C"/>
              </a:gs>
            </a:gsLst>
            <a:lin ang="16200000" scaled="0"/>
          </a:gradFill>
          <a:ln cap="flat" cmpd="sng" w="9525">
            <a:solidFill>
              <a:srgbClr val="EB04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Технические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(создание и оформление документации и кода)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1"/>
          <p:cNvSpPr/>
          <p:nvPr/>
        </p:nvSpPr>
        <p:spPr>
          <a:xfrm>
            <a:off x="858326" y="3073313"/>
            <a:ext cx="2452688" cy="1511300"/>
          </a:xfrm>
          <a:prstGeom prst="rect">
            <a:avLst/>
          </a:prstGeom>
          <a:gradFill>
            <a:gsLst>
              <a:gs pos="0">
                <a:srgbClr val="9E5ECE">
                  <a:alpha val="72941"/>
                </a:srgbClr>
              </a:gs>
              <a:gs pos="90000">
                <a:srgbClr val="9E5ECE">
                  <a:alpha val="72941"/>
                </a:srgbClr>
              </a:gs>
              <a:gs pos="100000">
                <a:srgbClr val="FF6E7C"/>
              </a:gs>
            </a:gsLst>
            <a:lin ang="16200000" scaled="0"/>
          </a:gradFill>
          <a:ln cap="flat" cmpd="sng" w="9525">
            <a:solidFill>
              <a:srgbClr val="EB04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Общие или продуктовые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(стилистика бренда и продуктов)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>
            <p:ph idx="1" type="body"/>
          </p:nvPr>
        </p:nvSpPr>
        <p:spPr>
          <a:xfrm>
            <a:off x="623888" y="1233488"/>
            <a:ext cx="7170737" cy="3411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"/>
              <a:buNone/>
            </a:pPr>
            <a:r>
              <a:rPr lang="ru-RU" sz="2000"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"/>
              <a:buNone/>
            </a:pPr>
            <a:r>
              <a:t/>
            </a:r>
            <a:endParaRPr sz="20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"/>
              <a:buNone/>
            </a:pPr>
            <a:r>
              <a:t/>
            </a:r>
            <a:endParaRPr sz="20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"/>
              <a:buNone/>
            </a:pPr>
            <a:r>
              <a:t/>
            </a:r>
            <a:endParaRPr sz="20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"/>
              <a:buNone/>
            </a:pPr>
            <a:r>
              <a:t/>
            </a:r>
            <a:endParaRPr sz="20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"/>
              <a:buNone/>
            </a:pPr>
            <a:r>
              <a:t/>
            </a:r>
            <a:endParaRPr sz="2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93" name="Google Shape;193;p32"/>
          <p:cNvSpPr txBox="1"/>
          <p:nvPr>
            <p:ph type="title"/>
          </p:nvPr>
        </p:nvSpPr>
        <p:spPr>
          <a:xfrm>
            <a:off x="457200" y="306388"/>
            <a:ext cx="6824663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 </a:t>
            </a:r>
            <a:endParaRPr/>
          </a:p>
        </p:txBody>
      </p:sp>
      <p:sp>
        <p:nvSpPr>
          <p:cNvPr id="194" name="Google Shape;194;p32"/>
          <p:cNvSpPr/>
          <p:nvPr/>
        </p:nvSpPr>
        <p:spPr>
          <a:xfrm>
            <a:off x="1533525" y="1023350"/>
            <a:ext cx="556577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Технические стайлгайды</a:t>
            </a:r>
            <a:endParaRPr b="0" i="0" sz="28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195" name="Google Shape;195;p32"/>
          <p:cNvCxnSpPr/>
          <p:nvPr/>
        </p:nvCxnSpPr>
        <p:spPr>
          <a:xfrm flipH="1">
            <a:off x="1816274" y="1847195"/>
            <a:ext cx="1340286" cy="1259543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196" name="Google Shape;196;p32"/>
          <p:cNvCxnSpPr/>
          <p:nvPr/>
        </p:nvCxnSpPr>
        <p:spPr>
          <a:xfrm>
            <a:off x="5336088" y="1847195"/>
            <a:ext cx="1696537" cy="120556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97" name="Google Shape;197;p32"/>
          <p:cNvSpPr/>
          <p:nvPr/>
        </p:nvSpPr>
        <p:spPr>
          <a:xfrm>
            <a:off x="5892800" y="3106738"/>
            <a:ext cx="2414588" cy="1062037"/>
          </a:xfrm>
          <a:prstGeom prst="rect">
            <a:avLst/>
          </a:prstGeom>
          <a:gradFill>
            <a:gsLst>
              <a:gs pos="0">
                <a:srgbClr val="9E5ECE">
                  <a:alpha val="72941"/>
                </a:srgbClr>
              </a:gs>
              <a:gs pos="90000">
                <a:srgbClr val="9E5ECE">
                  <a:alpha val="72941"/>
                </a:srgbClr>
              </a:gs>
              <a:gs pos="100000">
                <a:srgbClr val="FF6E7C"/>
              </a:gs>
            </a:gsLst>
            <a:lin ang="16200000" scaled="0"/>
          </a:gradFill>
          <a:ln cap="flat" cmpd="sng" w="9525">
            <a:solidFill>
              <a:srgbClr val="EB04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баз данных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2"/>
          <p:cNvSpPr/>
          <p:nvPr/>
        </p:nvSpPr>
        <p:spPr>
          <a:xfrm>
            <a:off x="457200" y="3052763"/>
            <a:ext cx="2452688" cy="1511300"/>
          </a:xfrm>
          <a:prstGeom prst="rect">
            <a:avLst/>
          </a:prstGeom>
          <a:gradFill>
            <a:gsLst>
              <a:gs pos="0">
                <a:srgbClr val="9E5ECE">
                  <a:alpha val="72941"/>
                </a:srgbClr>
              </a:gs>
              <a:gs pos="90000">
                <a:srgbClr val="9E5ECE">
                  <a:alpha val="72941"/>
                </a:srgbClr>
              </a:gs>
              <a:gs pos="100000">
                <a:srgbClr val="FF6E7C"/>
              </a:gs>
            </a:gsLst>
            <a:lin ang="16200000" scaled="0"/>
          </a:gradFill>
          <a:ln cap="flat" cmpd="sng" w="9525">
            <a:solidFill>
              <a:srgbClr val="EB04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документации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2"/>
          <p:cNvSpPr/>
          <p:nvPr/>
        </p:nvSpPr>
        <p:spPr>
          <a:xfrm>
            <a:off x="3277796" y="3106737"/>
            <a:ext cx="2414588" cy="1062037"/>
          </a:xfrm>
          <a:prstGeom prst="rect">
            <a:avLst/>
          </a:prstGeom>
          <a:gradFill>
            <a:gsLst>
              <a:gs pos="0">
                <a:srgbClr val="9E5ECE">
                  <a:alpha val="72941"/>
                </a:srgbClr>
              </a:gs>
              <a:gs pos="90000">
                <a:srgbClr val="9E5ECE">
                  <a:alpha val="72941"/>
                </a:srgbClr>
              </a:gs>
              <a:gs pos="100000">
                <a:srgbClr val="FF6E7C"/>
              </a:gs>
            </a:gsLst>
            <a:lin ang="16200000" scaled="0"/>
          </a:gradFill>
          <a:ln cap="flat" cmpd="sng" w="9525">
            <a:solidFill>
              <a:srgbClr val="EB04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кода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32"/>
          <p:cNvCxnSpPr/>
          <p:nvPr/>
        </p:nvCxnSpPr>
        <p:spPr>
          <a:xfrm>
            <a:off x="4183693" y="1728592"/>
            <a:ext cx="132719" cy="1378146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3"/>
          <p:cNvSpPr txBox="1"/>
          <p:nvPr>
            <p:ph idx="1" type="body"/>
          </p:nvPr>
        </p:nvSpPr>
        <p:spPr>
          <a:xfrm>
            <a:off x="623888" y="1233488"/>
            <a:ext cx="7170737" cy="3411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"/>
              <a:buNone/>
            </a:pPr>
            <a:r>
              <a:rPr lang="ru-RU" sz="2000"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"/>
              <a:buNone/>
            </a:pPr>
            <a:r>
              <a:t/>
            </a:r>
            <a:endParaRPr sz="20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"/>
              <a:buNone/>
            </a:pPr>
            <a:r>
              <a:t/>
            </a:r>
            <a:endParaRPr sz="20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"/>
              <a:buNone/>
            </a:pPr>
            <a:r>
              <a:t/>
            </a:r>
            <a:endParaRPr sz="20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"/>
              <a:buNone/>
            </a:pPr>
            <a:r>
              <a:t/>
            </a:r>
            <a:endParaRPr sz="20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"/>
              <a:buNone/>
            </a:pPr>
            <a:r>
              <a:t/>
            </a:r>
            <a:endParaRPr sz="2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06" name="Google Shape;206;p33"/>
          <p:cNvSpPr txBox="1"/>
          <p:nvPr>
            <p:ph type="title"/>
          </p:nvPr>
        </p:nvSpPr>
        <p:spPr>
          <a:xfrm>
            <a:off x="457200" y="306388"/>
            <a:ext cx="6824663" cy="52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 </a:t>
            </a:r>
            <a:endParaRPr/>
          </a:p>
        </p:txBody>
      </p:sp>
      <p:sp>
        <p:nvSpPr>
          <p:cNvPr id="207" name="Google Shape;207;p33"/>
          <p:cNvSpPr/>
          <p:nvPr/>
        </p:nvSpPr>
        <p:spPr>
          <a:xfrm>
            <a:off x="1533525" y="1023350"/>
            <a:ext cx="556577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Виды стайлгайдов в области документирования</a:t>
            </a:r>
            <a:endParaRPr b="0" i="0" sz="28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208" name="Google Shape;208;p33"/>
          <p:cNvCxnSpPr/>
          <p:nvPr/>
        </p:nvCxnSpPr>
        <p:spPr>
          <a:xfrm flipH="1">
            <a:off x="1816274" y="1847195"/>
            <a:ext cx="1340286" cy="1259543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cxnSp>
        <p:nvCxnSpPr>
          <p:cNvPr id="209" name="Google Shape;209;p33"/>
          <p:cNvCxnSpPr/>
          <p:nvPr/>
        </p:nvCxnSpPr>
        <p:spPr>
          <a:xfrm>
            <a:off x="5336088" y="1847195"/>
            <a:ext cx="1696537" cy="120556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10" name="Google Shape;210;p33"/>
          <p:cNvSpPr/>
          <p:nvPr/>
        </p:nvSpPr>
        <p:spPr>
          <a:xfrm>
            <a:off x="5892800" y="3106738"/>
            <a:ext cx="2414588" cy="1062037"/>
          </a:xfrm>
          <a:prstGeom prst="rect">
            <a:avLst/>
          </a:prstGeom>
          <a:gradFill>
            <a:gsLst>
              <a:gs pos="0">
                <a:srgbClr val="9E5ECE">
                  <a:alpha val="72941"/>
                </a:srgbClr>
              </a:gs>
              <a:gs pos="90000">
                <a:srgbClr val="9E5ECE">
                  <a:alpha val="72941"/>
                </a:srgbClr>
              </a:gs>
              <a:gs pos="100000">
                <a:srgbClr val="FF6E7C"/>
              </a:gs>
            </a:gsLst>
            <a:lin ang="16200000" scaled="0"/>
          </a:gradFill>
          <a:ln cap="flat" cmpd="sng" w="9525">
            <a:solidFill>
              <a:srgbClr val="EB04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стайлгайд документации для клиентов</a:t>
            </a:r>
            <a:endParaRPr/>
          </a:p>
        </p:txBody>
      </p:sp>
      <p:sp>
        <p:nvSpPr>
          <p:cNvPr id="211" name="Google Shape;211;p33"/>
          <p:cNvSpPr/>
          <p:nvPr/>
        </p:nvSpPr>
        <p:spPr>
          <a:xfrm>
            <a:off x="457200" y="3052763"/>
            <a:ext cx="2452688" cy="1511300"/>
          </a:xfrm>
          <a:prstGeom prst="rect">
            <a:avLst/>
          </a:prstGeom>
          <a:gradFill>
            <a:gsLst>
              <a:gs pos="0">
                <a:srgbClr val="9E5ECE">
                  <a:alpha val="72941"/>
                </a:srgbClr>
              </a:gs>
              <a:gs pos="90000">
                <a:srgbClr val="9E5ECE">
                  <a:alpha val="72941"/>
                </a:srgbClr>
              </a:gs>
              <a:gs pos="100000">
                <a:srgbClr val="FF6E7C"/>
              </a:gs>
            </a:gsLst>
            <a:lin ang="16200000" scaled="0"/>
          </a:gradFill>
          <a:ln cap="flat" cmpd="sng" w="9525">
            <a:solidFill>
              <a:srgbClr val="EB04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стайлгайд документации в вики-системе</a:t>
            </a:r>
            <a:endParaRPr/>
          </a:p>
        </p:txBody>
      </p:sp>
      <p:sp>
        <p:nvSpPr>
          <p:cNvPr id="212" name="Google Shape;212;p33"/>
          <p:cNvSpPr/>
          <p:nvPr/>
        </p:nvSpPr>
        <p:spPr>
          <a:xfrm>
            <a:off x="3327900" y="3106738"/>
            <a:ext cx="2414588" cy="1062037"/>
          </a:xfrm>
          <a:prstGeom prst="rect">
            <a:avLst/>
          </a:prstGeom>
          <a:gradFill>
            <a:gsLst>
              <a:gs pos="0">
                <a:srgbClr val="9E5ECE">
                  <a:alpha val="72941"/>
                </a:srgbClr>
              </a:gs>
              <a:gs pos="90000">
                <a:srgbClr val="9E5ECE">
                  <a:alpha val="72941"/>
                </a:srgbClr>
              </a:gs>
              <a:gs pos="100000">
                <a:srgbClr val="FF6E7C"/>
              </a:gs>
            </a:gsLst>
            <a:lin ang="16200000" scaled="0"/>
          </a:gradFill>
          <a:ln cap="flat" cmpd="sng" w="9525">
            <a:solidFill>
              <a:srgbClr val="EB04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стайлгайд специфических компонентов документации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33"/>
          <p:cNvCxnSpPr/>
          <p:nvPr/>
        </p:nvCxnSpPr>
        <p:spPr>
          <a:xfrm>
            <a:off x="4183693" y="1728592"/>
            <a:ext cx="132719" cy="1378146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Стайлгайд — набор правил написания и оформления документов. Он может, например, включать требования: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— к тону документации (отношение, которое автор документации передает ее пользователю);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— написанию иноязычных слов;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— формату даты и времени, кавычкам, букве «ё»;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— синтаксису. Например, рекомендация не использовать страдательный залог, писать от первого лица, ограничивать длину предложения, чтобы улучшить восприятие информации;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— структуре документации;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— спискам и таблицам;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ru-RU">
                <a:latin typeface="Times New Roman"/>
                <a:ea typeface="Times New Roman"/>
                <a:cs typeface="Times New Roman"/>
                <a:sym typeface="Times New Roman"/>
              </a:rPr>
              <a:t>— оформлению документов (шрифты, цветовая гамма и т.д.).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/>
          </a:p>
        </p:txBody>
      </p:sp>
      <p:sp>
        <p:nvSpPr>
          <p:cNvPr id="219" name="Google Shape;219;p3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/>
          </a:p>
        </p:txBody>
      </p:sp>
      <p:sp>
        <p:nvSpPr>
          <p:cNvPr id="225" name="Google Shape;225;p3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Порядок разработки стайлгайда</a:t>
            </a:r>
            <a:endParaRPr/>
          </a:p>
        </p:txBody>
      </p:sp>
      <p:pic>
        <p:nvPicPr>
          <p:cNvPr id="226" name="Google Shape;22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536" y="1431239"/>
            <a:ext cx="7058634" cy="2687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lang="ru-RU"/>
              <a:t>Провести исследование и собрать необходимую информацию:</a:t>
            </a:r>
            <a:endParaRPr/>
          </a:p>
          <a:p>
            <a:pPr indent="-285750" lvl="0" marL="2857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-"/>
            </a:pPr>
            <a:r>
              <a:rPr lang="ru-RU"/>
              <a:t>изучить особенности работы с документацией в организации,</a:t>
            </a:r>
            <a:endParaRPr/>
          </a:p>
          <a:p>
            <a:pPr indent="-285750" lvl="0" marL="2857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-"/>
            </a:pPr>
            <a:r>
              <a:rPr lang="ru-RU"/>
              <a:t>собрать, систематизировать и изучить всю документацию в организации,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/>
              <a:t>		</a:t>
            </a:r>
            <a:r>
              <a:rPr b="1" lang="ru-RU" sz="2800">
                <a:solidFill>
                  <a:schemeClr val="accent1"/>
                </a:solidFill>
              </a:rPr>
              <a:t>Так уже пишут!</a:t>
            </a:r>
            <a:endParaRPr/>
          </a:p>
          <a:p>
            <a:pPr indent="-184150" lvl="0" marL="2857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/>
          </a:p>
        </p:txBody>
      </p:sp>
      <p:sp>
        <p:nvSpPr>
          <p:cNvPr id="232" name="Google Shape;232;p3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 чего начать работу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lang="ru-RU"/>
              <a:t>Провести исследование и собрать необходимую информацию:</a:t>
            </a:r>
            <a:endParaRPr/>
          </a:p>
          <a:p>
            <a:pPr indent="-285750" lvl="0" marL="2857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-"/>
            </a:pPr>
            <a:r>
              <a:rPr lang="ru-RU"/>
              <a:t>изучить особенности работы с документацией в организации,</a:t>
            </a:r>
            <a:endParaRPr/>
          </a:p>
          <a:p>
            <a:pPr indent="-285750" lvl="0" marL="2857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-"/>
            </a:pPr>
            <a:r>
              <a:rPr lang="ru-RU"/>
              <a:t>собрать, систематизировать и изучить всю документацию в организации,</a:t>
            </a:r>
            <a:endParaRPr/>
          </a:p>
          <a:p>
            <a:pPr indent="-285750" lvl="0" marL="2857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-"/>
            </a:pPr>
            <a:r>
              <a:rPr lang="ru-RU"/>
              <a:t>изучить внешние источники.</a:t>
            </a:r>
            <a:endParaRPr/>
          </a:p>
          <a:p>
            <a:pPr indent="-184150" lvl="0" marL="2857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/>
          </a:p>
        </p:txBody>
      </p:sp>
      <p:sp>
        <p:nvSpPr>
          <p:cNvPr id="238" name="Google Shape;238;p3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 чего начать работу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-"/>
            </a:pPr>
            <a:r>
              <a:rPr lang="ru-RU"/>
              <a:t>Цели стайлгайда,</a:t>
            </a:r>
            <a:endParaRPr/>
          </a:p>
          <a:p>
            <a:pPr indent="-285750" lvl="0" marL="2857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-"/>
            </a:pPr>
            <a:r>
              <a:rPr lang="ru-RU"/>
              <a:t>Существующие договоренности,</a:t>
            </a:r>
            <a:endParaRPr/>
          </a:p>
          <a:p>
            <a:pPr indent="-285750" lvl="0" marL="2857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-"/>
            </a:pPr>
            <a:r>
              <a:rPr lang="ru-RU"/>
              <a:t>Повторяющиеся паттерны,</a:t>
            </a:r>
            <a:endParaRPr/>
          </a:p>
          <a:p>
            <a:pPr indent="-285750" lvl="0" marL="2857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-"/>
            </a:pPr>
            <a:r>
              <a:rPr lang="ru-RU"/>
              <a:t>Повторяющиеся ошибки, </a:t>
            </a:r>
            <a:endParaRPr/>
          </a:p>
          <a:p>
            <a:pPr indent="-285750" lvl="0" marL="2857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-"/>
            </a:pPr>
            <a:r>
              <a:rPr lang="ru-RU"/>
              <a:t>Виды документов,</a:t>
            </a:r>
            <a:endParaRPr/>
          </a:p>
          <a:p>
            <a:pPr indent="-285750" lvl="0" marL="2857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-"/>
            </a:pPr>
            <a:r>
              <a:rPr lang="ru-RU"/>
              <a:t>Авторы и читатели документов,</a:t>
            </a:r>
            <a:endParaRPr/>
          </a:p>
          <a:p>
            <a:pPr indent="-285750" lvl="0" marL="2857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Char char="-"/>
            </a:pPr>
            <a:r>
              <a:rPr lang="ru-RU"/>
              <a:t>Инструменты документирования.</a:t>
            </a:r>
            <a:endParaRPr/>
          </a:p>
        </p:txBody>
      </p:sp>
      <p:sp>
        <p:nvSpPr>
          <p:cNvPr id="244" name="Google Shape;244;p3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Результат сбора исходных данных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9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lang="ru-RU"/>
              <a:t>Определить основные правила, которые важно зафиксировать</a:t>
            </a:r>
            <a:endParaRPr/>
          </a:p>
        </p:txBody>
      </p:sp>
      <p:sp>
        <p:nvSpPr>
          <p:cNvPr id="250" name="Google Shape;250;p3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0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b="1" lang="ru-RU"/>
              <a:t>2. Набросать структуру правил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lang="ru-RU"/>
              <a:t>Определить основные правила, которые важно зафиксировать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b="1" lang="ru-RU"/>
              <a:t>3. Изучить внешние источники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lang="ru-RU"/>
              <a:t>Посмотреть примеры других стайлгайдов и документации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b="1" lang="ru-RU"/>
              <a:t>4. Написать содержимое правил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b="1" lang="ru-RU"/>
              <a:t>5. Протестировать правила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lang="ru-RU"/>
              <a:t>Написать несколько документов, используя гид по стилю.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b="1" lang="ru-RU"/>
              <a:t>6. Презентовать стайлгайд</a:t>
            </a:r>
            <a:endParaRPr b="1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/>
          </a:p>
        </p:txBody>
      </p:sp>
      <p:sp>
        <p:nvSpPr>
          <p:cNvPr id="256" name="Google Shape;256;p4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1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1" lang="ru-RU" sz="3600"/>
              <a:t>Получение обратной связи и исправление стайлгайда</a:t>
            </a:r>
            <a:endParaRPr b="1" sz="3600"/>
          </a:p>
        </p:txBody>
      </p:sp>
      <p:sp>
        <p:nvSpPr>
          <p:cNvPr id="262" name="Google Shape;262;p4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В завершении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2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b="1" lang="ru-RU"/>
              <a:t>2. Набросать структуру правил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lang="ru-RU"/>
              <a:t>Определить основные правила, которые важно зафиксировать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b="1" lang="ru-RU"/>
              <a:t>3. Изучить внешние источники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lang="ru-RU"/>
              <a:t>Посмотреть примеры других стайлгайдов и документации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b="1" lang="ru-RU"/>
              <a:t>4. Написать содержимое правил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b="1" lang="ru-RU"/>
              <a:t>5. Протестировать правила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lang="ru-RU"/>
              <a:t>Написать несколько документов, используя гид по стилю.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b="1" lang="ru-RU"/>
              <a:t>6. Презентовать стайлгайд.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b="1" lang="ru-RU"/>
              <a:t>7. Доработать стайлгайд</a:t>
            </a:r>
            <a:endParaRPr b="1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b="1" lang="ru-RU"/>
              <a:t>8. Использовать.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/>
          </a:p>
        </p:txBody>
      </p:sp>
      <p:sp>
        <p:nvSpPr>
          <p:cNvPr id="268" name="Google Shape;268;p4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3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ru-RU" sz="2000"/>
              <a:t>Стиль изложения,</a:t>
            </a:r>
            <a:endParaRPr/>
          </a:p>
          <a:p>
            <a:pPr indent="-285750" lvl="0" marL="2857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ru-RU" sz="2000"/>
              <a:t>Орфография и пунктуация,</a:t>
            </a:r>
            <a:endParaRPr/>
          </a:p>
          <a:p>
            <a:pPr indent="-285750" lvl="0" marL="2857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ru-RU" sz="2000"/>
              <a:t>Оформление текста,</a:t>
            </a:r>
            <a:endParaRPr/>
          </a:p>
          <a:p>
            <a:pPr indent="-285750" lvl="0" marL="2857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ru-RU" sz="2000"/>
              <a:t>Правила работы с Markdown,</a:t>
            </a:r>
            <a:endParaRPr/>
          </a:p>
          <a:p>
            <a:pPr indent="-285750" lvl="0" marL="2857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ru-RU" sz="2000"/>
              <a:t>Шаблоны,</a:t>
            </a:r>
            <a:endParaRPr/>
          </a:p>
          <a:p>
            <a:pPr indent="-285750" lvl="0" marL="2857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ru-RU" sz="2000"/>
              <a:t>Точечные рекомендации,</a:t>
            </a:r>
            <a:endParaRPr/>
          </a:p>
          <a:p>
            <a:pPr indent="-285750" lvl="0" marL="2857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ru-RU" sz="2000"/>
              <a:t>Словари и глоссарии.</a:t>
            </a:r>
            <a:endParaRPr sz="2000"/>
          </a:p>
        </p:txBody>
      </p:sp>
      <p:sp>
        <p:nvSpPr>
          <p:cNvPr id="274" name="Google Shape;274;p4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Примерная структура стайлгайда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4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lang="ru-RU"/>
              <a:t>1) Google руководство по стилю документации для разработчиков </a:t>
            </a:r>
            <a:br>
              <a:rPr lang="ru-RU"/>
            </a:br>
            <a:r>
              <a:rPr lang="ru-RU"/>
              <a:t>(</a:t>
            </a:r>
            <a:r>
              <a:rPr lang="ru-RU" u="sng">
                <a:solidFill>
                  <a:schemeClr val="hlink"/>
                </a:solidFill>
                <a:hlinkClick r:id="rId3"/>
              </a:rPr>
              <a:t>https://developers.google.com/style</a:t>
            </a:r>
            <a:r>
              <a:rPr lang="ru-RU"/>
              <a:t>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lang="ru-RU"/>
              <a:t>2) Стайлгайд Ozon (</a:t>
            </a:r>
            <a:r>
              <a:rPr lang="ru-RU" u="sng">
                <a:solidFill>
                  <a:schemeClr val="hlink"/>
                </a:solidFill>
                <a:hlinkClick r:id="rId4"/>
              </a:rPr>
              <a:t>https://docs.ozon.ru/styleguide/</a:t>
            </a:r>
            <a:r>
              <a:rPr lang="ru-RU"/>
              <a:t>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lang="ru-RU"/>
              <a:t>3) Тернистый путь к созданию и внедрению Content Style Guide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lang="ru-RU"/>
              <a:t> (</a:t>
            </a:r>
            <a:r>
              <a:rPr lang="ru-RU" u="sng">
                <a:solidFill>
                  <a:schemeClr val="hlink"/>
                </a:solidFill>
                <a:hlinkClick r:id="rId5"/>
              </a:rPr>
              <a:t>https://habr.com/ru/articles/591761/</a:t>
            </a:r>
            <a:r>
              <a:rPr lang="ru-RU"/>
              <a:t>)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lang="ru-RU"/>
              <a:t>4) Инструкция для инструкции. Как написать гид по стилю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lang="ru-RU"/>
              <a:t> (https://techwriterdays.ru/ru/talk/124584)</a:t>
            </a:r>
            <a:endParaRPr/>
          </a:p>
        </p:txBody>
      </p:sp>
      <p:sp>
        <p:nvSpPr>
          <p:cNvPr id="280" name="Google Shape;280;p4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Примеры стайлгайдов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5"/>
          <p:cNvSpPr txBox="1"/>
          <p:nvPr>
            <p:ph type="title"/>
          </p:nvPr>
        </p:nvSpPr>
        <p:spPr>
          <a:xfrm>
            <a:off x="457200" y="18018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>
                <a:latin typeface="Golos Text SemiBold"/>
                <a:ea typeface="Golos Text SemiBold"/>
                <a:cs typeface="Golos Text SemiBold"/>
                <a:sym typeface="Golos Text SemiBold"/>
              </a:rPr>
              <a:t>Спасибо</a:t>
            </a:r>
            <a:br>
              <a:rPr lang="ru-RU" sz="4400">
                <a:latin typeface="Golos Text SemiBold"/>
                <a:ea typeface="Golos Text SemiBold"/>
                <a:cs typeface="Golos Text SemiBold"/>
                <a:sym typeface="Golos Text SemiBold"/>
              </a:rPr>
            </a:br>
            <a:r>
              <a:rPr lang="ru-RU" sz="4400">
                <a:latin typeface="Golos Text SemiBold"/>
                <a:ea typeface="Golos Text SemiBold"/>
                <a:cs typeface="Golos Text SemiBold"/>
                <a:sym typeface="Golos Text SemiBold"/>
              </a:rPr>
              <a:t>за внимание!</a:t>
            </a:r>
            <a:endParaRPr sz="4400"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